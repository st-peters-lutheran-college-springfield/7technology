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B2D3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BD9B6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5" name="Image 0" descr="icon_shield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74066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DT / STEM ROOM SAFETY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40080" y="3337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7 Technology · Unit 3 — CyberPet for Wellbeing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every student needs to know before hands-on work begins in Weeks 3–8.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4846320" cy="4572000"/>
          </a:xfrm>
          <a:prstGeom prst="roundRect">
            <a:avLst>
              <a:gd name="adj" fmla="val 1600"/>
            </a:avLst>
          </a:prstGeom>
          <a:solidFill>
            <a:srgbClr val="1D252D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737360"/>
            <a:ext cx="731520" cy="73152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5" name="Image 0" descr="icon_book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307" y="1817827"/>
            <a:ext cx="570586" cy="5705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56032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Health and Safety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 2011 (Qld)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840" y="338328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law every Queensland classroom and workshop operates under — including this room, whenever tools, machinery or materials are in use.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1417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teacher carries overall responsibility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60720" y="1801368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the safety of every activity in this room — that's why some steps (like laser cutting) are teacher-only, not student-run.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760720" y="28986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Supervision has to be active and “rescue-ready”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760720" y="3282696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just present in the room. That's why some tasks are staged separately rather than run all at once.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60720" y="43799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Equipment is used exactly as demonstrated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760720" y="4764024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never a shortcut you've seen elsewhere, and never before your teacher has shown you how.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you start: PPE &amp; room rules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apply every lesson, for every activity — not just the ones that feel risky.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6" name="Image 0" descr="icon_eye_7B2D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809" y="208208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933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glasses when the task requires them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Worn any time a Safety Data Sheet or your teacher's instructions call for them — laser cutting, and some hand-tool work.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11680"/>
            <a:ext cx="640080" cy="64008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11" name="Image 1" descr="icon_shield_7B2D3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89" y="208208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9933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Enclosed footwear, always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83680" y="278892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open sandals or thongs in the DT/STEM room — non-negotiable.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89120"/>
            <a:ext cx="640080" cy="64008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16" name="Image 2" descr="icon_users_7B2D3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809" y="4459529"/>
            <a:ext cx="499262" cy="499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708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Hair tied back, no loose clothing or jewellery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914400" y="51663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Anything that could catch on a tool or machine comes off or gets tied back before you start.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09360" y="4114800"/>
            <a:ext cx="52120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4389120"/>
            <a:ext cx="640080" cy="64008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21" name="Image 3" descr="icon_pin_7B2D3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4089" y="4459529"/>
            <a:ext cx="499262" cy="499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37083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in your seated position while cutting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583680" y="5166360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room doesn't have marked exclusion zones, so staying seated keeps blades and moving parts away from other students.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oundRect">
            <a:avLst/>
          </a:prstGeom>
          <a:solidFill>
            <a:srgbClr val="1D252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4" name="Image 0" descr="icon_scissors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927202" cy="927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 tools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SCISSORS &amp; CRAFT KNIVES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7D5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480560" y="1161288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1" name="Image 1" descr="icon_check_BD9B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47" y="119347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14300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 cardboard and felt/synthetic leather only — never plywood or acrylic by hand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728216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4" name="Image 2" descr="icon_check_BD9B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47" y="176040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709928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Craft knives: blades kept short, cutting done on a mat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480560" y="2295144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7" name="Image 3" descr="icon_check_BD9B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747" y="232733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276856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blade moving away from your body at all times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480560" y="2862072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20" name="Image 4" descr="icon_check_BD9B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747" y="2894259"/>
            <a:ext cx="228234" cy="2282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2843784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Wait for your teacher's demonstration before cutting independently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0" y="3547872"/>
            <a:ext cx="7040880" cy="1005840"/>
          </a:xfrm>
          <a:prstGeom prst="roundRect">
            <a:avLst>
              <a:gd name="adj" fmla="val 7273"/>
            </a:avLst>
          </a:prstGeom>
          <a:solidFill>
            <a:srgbClr val="FBF0F0"/>
          </a:solidFill>
          <a:ln/>
        </p:spPr>
      </p:sp>
      <p:sp>
        <p:nvSpPr>
          <p:cNvPr id="23" name="Shape 16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24" name="Image 5" descr="icon_alert_7B2D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37993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7124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matters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303520" y="4023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 materials (plywood, acrylic) are never hand-cut — they're laser cut instead, specifically to keep sharp-blade work to soft materials only.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oundRect">
            <a:avLst/>
          </a:prstGeom>
          <a:solidFill>
            <a:srgbClr val="1D252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4" name="Image 0" descr="icon_zap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927202" cy="927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Laser cutter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TROTEC SPEEDY 300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7B2D3E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TEACHER ONLY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480560" y="1161288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1" name="Image 1" descr="icon_check_BD9B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47" y="119347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14300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design in Tinkercad — your teacher does the actual cutting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728216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4" name="Image 2" descr="icon_check_BD9B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47" y="176040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709928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approved plywood/acrylic is ever loaded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480560" y="2295144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7" name="Image 3" descr="icon_check_BD9B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747" y="232733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276856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Lid interlock and fume extraction run for the whole cut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480560" y="2862072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20" name="Image 4" descr="icon_check_BD9B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747" y="2894259"/>
            <a:ext cx="228234" cy="2282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2843784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Cutting happens as a separate supervised batch, not while others use hand tools or glue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0" y="3547872"/>
            <a:ext cx="7040880" cy="1143000"/>
          </a:xfrm>
          <a:prstGeom prst="roundRect">
            <a:avLst>
              <a:gd name="adj" fmla="val 6400"/>
            </a:avLst>
          </a:prstGeom>
          <a:solidFill>
            <a:srgbClr val="FBF0F0"/>
          </a:solidFill>
          <a:ln/>
        </p:spPr>
      </p:sp>
      <p:sp>
        <p:nvSpPr>
          <p:cNvPr id="23" name="Shape 16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24" name="Image 5" descr="icon_alert_7B2D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37993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7124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never operate this machine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303520" y="402336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one manufacturing decision you explain and design for, rather than personally run — the room can't safely supervise the laser and hand-tool work at the same time.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oundRect">
            <a:avLst/>
          </a:prstGeom>
          <a:solidFill>
            <a:srgbClr val="1D252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4" name="Image 0" descr="icon_printer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927202" cy="927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printer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ADDITIVE MANUFACTURING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7D5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480560" y="1161288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1" name="Image 1" descr="icon_check_BD9B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47" y="119347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14300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teacher loads the file and operates the printer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728216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4" name="Image 2" descr="icon_check_BD9B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47" y="176040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709928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touch the nozzle, the bed, or a print that's still in progress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480560" y="2295144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7" name="Image 3" descr="icon_check_BD9B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747" y="232733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276856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handle a finished print once your teacher confirms it has cooled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480560" y="2862072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20" name="Image 4" descr="icon_check_BD9B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747" y="2894259"/>
            <a:ext cx="228234" cy="2282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2843784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clear of the printer's position in the room while it's running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0" y="3547872"/>
            <a:ext cx="7040880" cy="960120"/>
          </a:xfrm>
          <a:prstGeom prst="roundRect">
            <a:avLst>
              <a:gd name="adj" fmla="val 7619"/>
            </a:avLst>
          </a:prstGeom>
          <a:solidFill>
            <a:srgbClr val="FBF0F0"/>
          </a:solidFill>
          <a:ln/>
        </p:spPr>
      </p:sp>
      <p:sp>
        <p:nvSpPr>
          <p:cNvPr id="23" name="Shape 16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24" name="Image 5" descr="icon_alert_7B2D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37993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7124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nozzle and bed run hot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303520" y="4023360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Typically 200–260°C — hot enough to burn on contact. Normal use never requires you to touch either part, so don't.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oundRect">
            <a:avLst/>
          </a:prstGeom>
          <a:solidFill>
            <a:srgbClr val="1D252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4" name="Image 0" descr="icon_droplet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927202" cy="927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Adhesive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PVA / CRAFT GLUE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7D5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480560" y="1161288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1" name="Image 1" descr="icon_check_BD9B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47" y="119347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14300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7 uses PVA or craft glue only — not hot glue guns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728216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4" name="Image 2" descr="icon_check_BD9B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47" y="176040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709928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heat involved, and the glue itself is non-toxic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480560" y="2295144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7" name="Image 3" descr="icon_check_BD9B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747" y="232733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276856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Don't touch your eyes or eat while you have glue on your hands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480560" y="2862072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20" name="Image 4" descr="icon_check_BD9B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747" y="2894259"/>
            <a:ext cx="228234" cy="2282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2843784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Wash hands after use, as with any classroom material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0" y="3547872"/>
            <a:ext cx="7040880" cy="1005840"/>
          </a:xfrm>
          <a:prstGeom prst="roundRect">
            <a:avLst>
              <a:gd name="adj" fmla="val 7273"/>
            </a:avLst>
          </a:prstGeom>
          <a:solidFill>
            <a:srgbClr val="FBF0F0"/>
          </a:solidFill>
          <a:ln/>
        </p:spPr>
      </p:sp>
      <p:sp>
        <p:nvSpPr>
          <p:cNvPr id="23" name="Shape 16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24" name="Image 5" descr="icon_alert_7B2D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37993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7124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the same as older year levels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303520" y="40233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8/9 students use hot glue guns in this room under a different set of controls (gun stands, gloves, closer supervision) — that doesn't apply to this unit.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oundRect">
            <a:avLst/>
          </a:prstGeom>
          <a:solidFill>
            <a:srgbClr val="1D252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"/>
            <a:ext cx="1188720" cy="1188720"/>
          </a:xfrm>
          <a:prstGeom prst="ellipse">
            <a:avLst/>
          </a:prstGeom>
          <a:solidFill>
            <a:srgbClr val="2A333D"/>
          </a:solidFill>
          <a:ln/>
        </p:spPr>
      </p:sp>
      <p:pic>
        <p:nvPicPr>
          <p:cNvPr id="4" name="Image 0" descr="icon_cpu_BD9B6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770839"/>
            <a:ext cx="927202" cy="9272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01168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MICRO:BIT + GLOWBIT + BATTERY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59436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3F7D5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943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RISK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480560" y="5486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to do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480560" y="1161288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1" name="Image 1" descr="icon_check_BD9B6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747" y="1193475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14300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Low-voltage battery power only — this design never uses mains power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480560" y="1728216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4" name="Image 2" descr="icon_check_BD9B6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47" y="176040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1709928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GlowBit connects to the micro:bit's edge connector — no soldering involved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480560" y="2295144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17" name="Image 3" descr="icon_check_BD9B6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747" y="2327331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983480" y="2276856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 your board using the teacher-provided starter script and demonstration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480560" y="2862072"/>
            <a:ext cx="292608" cy="292608"/>
          </a:xfrm>
          <a:prstGeom prst="ellipse">
            <a:avLst/>
          </a:prstGeom>
          <a:solidFill>
            <a:srgbClr val="F5EFE3"/>
          </a:solidFill>
          <a:ln/>
        </p:spPr>
      </p:sp>
      <p:pic>
        <p:nvPicPr>
          <p:cNvPr id="20" name="Image 4" descr="icon_check_BD9B6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747" y="2894259"/>
            <a:ext cx="228234" cy="2282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2843784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Never open or modify the battery pack itself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0" y="3547872"/>
            <a:ext cx="7040880" cy="914400"/>
          </a:xfrm>
          <a:prstGeom prst="roundRect">
            <a:avLst>
              <a:gd name="adj" fmla="val 8000"/>
            </a:avLst>
          </a:prstGeom>
          <a:solidFill>
            <a:srgbClr val="FBF0F0"/>
          </a:solidFill>
          <a:ln/>
        </p:spPr>
      </p:sp>
      <p:sp>
        <p:nvSpPr>
          <p:cNvPr id="23" name="Shape 16"/>
          <p:cNvSpPr/>
          <p:nvPr/>
        </p:nvSpPr>
        <p:spPr>
          <a:xfrm>
            <a:off x="4709160" y="3749040"/>
            <a:ext cx="457200" cy="457200"/>
          </a:xfrm>
          <a:prstGeom prst="ellipse">
            <a:avLst/>
          </a:prstGeom>
          <a:solidFill>
            <a:srgbClr val="FBF0F0"/>
          </a:solidFill>
          <a:ln/>
        </p:spPr>
      </p:sp>
      <p:pic>
        <p:nvPicPr>
          <p:cNvPr id="24" name="Image 5" descr="icon_alert_7B2D3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9452" y="3799332"/>
            <a:ext cx="356616" cy="35661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71246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B2D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Lowest-risk activity in the unit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5303520" y="40233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30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mains power and no soldering means the main rule is simple: follow the wiring demonstration exactly as shown.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your risk levels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activity in this unit has already been risk-assessed by your teacher. Here's what the levels mean.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3F7D5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Minor, easily managed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Routine supervision handles it — this covers every activity in this unit as planned.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10312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BD9B6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2103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Needs some intervention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35204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Contained quickly with a small, specific control — e.g. a teacher check-in before independent work.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10312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C97A3E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103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Significant, acts fast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a qualified supervisor and tighter controls — this is why the laser cutter is teacher-only.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82880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35440" y="210312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7B2D3E"/>
          </a:solidFill>
          <a:ln/>
        </p:spPr>
      </p:sp>
      <p:sp>
        <p:nvSpPr>
          <p:cNvPr id="21" name="Text 19"/>
          <p:cNvSpPr/>
          <p:nvPr/>
        </p:nvSpPr>
        <p:spPr>
          <a:xfrm>
            <a:off x="9235440" y="210312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EXTREME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35440" y="28346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Serious consequences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35440" y="3520440"/>
            <a:ext cx="2148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Would mean stopping the activity entirely — not expected in this unit when controls are followed.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7B2D3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something goes wrong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85800" cy="6858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5" name="Image 0" descr="icon_phone_1D25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" y="1904238"/>
            <a:ext cx="534924" cy="5349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8105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every injury, straight away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22677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something minor — a small cut, a splinter, a bump. Tell your teacher immediately, every time.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00400"/>
            <a:ext cx="685800" cy="6858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9" name="Image 1" descr="icon_pin_1D252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518" y="3275838"/>
            <a:ext cx="534924" cy="5349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1821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where first aid is kept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36393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teacher will point it out in your first lesson in this room — make sure you know before you need it.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572000"/>
            <a:ext cx="685800" cy="6858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13" name="Image 2" descr="icon_alert_1D25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18" y="4647438"/>
            <a:ext cx="534924" cy="5349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5537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your exits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501091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1A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for every specialist room — if you're ever unsure, ask.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these rules come from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isn't just classroom convention — it follows Queensland's actual safety framework for school workshops.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Health and Safety Act 2011 (Qld)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08483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legislation every Queensland workplace and school operates under, including specialist rooms like this one.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788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Workshop Activities guideline (Queensland Dept of Education)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13639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Sets out PPE requirements, supervision levels by risk, exclusion zones, and hazard categories for school workshop activities — the framework this room's own practices are aligned with.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QCAA Technologies P–10 syllabus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18795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safe, ethical practical work as a built-in part of the Design and Technologies learning area — not an optional extra.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5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unit's own Risk Assessment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2395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 7 Technology — CyberPets Unit 3 — the specific hazards and controls on the previous slides come directly from this document, completed by your teacher.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D25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BD9B60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Week 3 starts, you should be able to...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5" name="Image 0" descr="icon_check_1D25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7876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556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PPE and room rules that apply every lesson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8" name="Image 1" descr="icon_check_1D252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6489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5328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why the laser cutter and 3D printer are teacher-operated only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11" name="Image 2" descr="icon_check_1D252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342132"/>
            <a:ext cx="356616" cy="3566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310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the correct technique for hand-cutting with scissors or a craft knife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14" name="Image 3" descr="icon_check_1D252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119372"/>
            <a:ext cx="356616" cy="35661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0873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what to do immediately if you or someone else is hurt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640080" y="4846320"/>
            <a:ext cx="457200" cy="457200"/>
          </a:xfrm>
          <a:prstGeom prst="ellipse">
            <a:avLst/>
          </a:prstGeom>
          <a:solidFill>
            <a:srgbClr val="BD9B60"/>
          </a:solidFill>
          <a:ln/>
        </p:spPr>
      </p:sp>
      <p:pic>
        <p:nvPicPr>
          <p:cNvPr id="17" name="Image 4" descr="icon_check_1D252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4896612"/>
            <a:ext cx="356616" cy="35661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48646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Explain, in your own words, why these rules exist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640080" y="6126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D9B6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 Ask your teacher before you start — not after.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 Peters Lutheran College Springfield  ·  Year 7 Technology, Unit 3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2026-08-18T10:28:26Z</dcterms:created>
  <dcterms:modified xsi:type="dcterms:W3CDTF">2026-08-18T10:28:26Z</dcterms:modified>
</cp:coreProperties>
</file>